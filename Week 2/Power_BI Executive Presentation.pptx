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67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SUPERSTORE SALES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AnalystLab Africa — Week 2 Business Intelligence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Interactive Power BI dashboard for executive sales and profitability monitoring.</a:t>
            </a:r>
          </a:p>
          <a:p>
            <a:pPr>
              <a:spcAft>
                <a:spcPts val="1000"/>
              </a:spcAft>
              <a:defRPr sz="2200"/>
            </a:pPr>
            <a:r>
              <a:t>Focus: sales performance, profitability, customer segments, products, regions and time trends.</a:t>
            </a:r>
          </a:p>
          <a:p>
            <a:pPr>
              <a:spcAft>
                <a:spcPts val="1000"/>
              </a:spcAft>
              <a:defRPr sz="2200"/>
            </a:pPr>
            <a:r>
              <a:t>Tools: Microsoft Power BI, Power Query, DAX and interactive visualisation.</a:t>
            </a:r>
          </a:p>
        </p:txBody>
      </p:sp>
      <p:pic>
        <p:nvPicPr>
          <p:cNvPr id="5" name="Picture 4" descr="3861e475-5790-4d59-82ca-97d8ed8637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17320"/>
            <a:ext cx="4663440" cy="26201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1.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Management needs a consolidated view of sales, profit, customer segments and regional performance.</a:t>
            </a:r>
          </a:p>
          <a:p>
            <a:pPr>
              <a:spcAft>
                <a:spcPts val="1000"/>
              </a:spcAft>
              <a:defRPr sz="2200"/>
            </a:pPr>
            <a:r>
              <a:t>The dashboard transforms transactional data into interactive KPIs and visual analysis.</a:t>
            </a:r>
          </a:p>
          <a:p>
            <a:pPr>
              <a:spcAft>
                <a:spcPts val="1000"/>
              </a:spcAft>
              <a:defRPr sz="2200"/>
            </a:pPr>
            <a:r>
              <a:t>The objective is to identify where revenue is strongest, where profit is strongest, and where management should focus attention.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2. Executive KPI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Total Sales: $2.30M</a:t>
            </a:r>
          </a:p>
          <a:p>
            <a:pPr>
              <a:spcAft>
                <a:spcPts val="1000"/>
              </a:spcAft>
              <a:defRPr sz="2100"/>
            </a:pPr>
            <a:r>
              <a:t>Total Profit: $286.40K</a:t>
            </a:r>
          </a:p>
          <a:p>
            <a:pPr>
              <a:spcAft>
                <a:spcPts val="1000"/>
              </a:spcAft>
              <a:defRPr sz="2100"/>
            </a:pPr>
            <a:r>
              <a:t>Average Sales: $229.86</a:t>
            </a:r>
          </a:p>
          <a:p>
            <a:pPr>
              <a:spcAft>
                <a:spcPts val="1000"/>
              </a:spcAft>
              <a:defRPr sz="2100"/>
            </a:pPr>
            <a:r>
              <a:t>Profit Margin: 12.47%</a:t>
            </a:r>
          </a:p>
          <a:p>
            <a:pPr>
              <a:spcAft>
                <a:spcPts val="1000"/>
              </a:spcAft>
              <a:defRPr sz="2100"/>
            </a:pPr>
            <a:r>
              <a:t>Profit Growth: 48.42% (current dashboard KPI)</a:t>
            </a:r>
          </a:p>
          <a:p>
            <a:pPr>
              <a:spcAft>
                <a:spcPts val="1000"/>
              </a:spcAft>
              <a:defRPr sz="2100"/>
            </a:pPr>
            <a:r>
              <a:t>Assignment alignment note: Total Orders should be retained/added as the required fifth KPI if not already present.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3. Power BI Dashboard</a:t>
            </a:r>
          </a:p>
        </p:txBody>
      </p:sp>
      <p:pic>
        <p:nvPicPr>
          <p:cNvPr id="3" name="Picture 2" descr="3861e475-5790-4d59-82ca-97d8ed8637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68680"/>
            <a:ext cx="11155680" cy="62678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4. Regional &amp; Customer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West is the strongest region by sales at approximately $725.46K and also leads profit at approximately $108.42K.</a:t>
            </a:r>
          </a:p>
          <a:p>
            <a:pPr>
              <a:spcAft>
                <a:spcPts val="1000"/>
              </a:spcAft>
              <a:defRPr sz="2100"/>
            </a:pPr>
            <a:r>
              <a:t>Consumer is the largest customer segment, contributing approximately $1.16M in sales.</a:t>
            </a:r>
          </a:p>
          <a:p>
            <a:pPr>
              <a:spcAft>
                <a:spcPts val="1000"/>
              </a:spcAft>
              <a:defRPr sz="2100"/>
            </a:pPr>
            <a:r>
              <a:t>Regional and segment slicers allow management to investigate performance interactively.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 Product &amp; Category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Technology is the largest category by sales at approximately $836.15K.</a:t>
            </a:r>
          </a:p>
          <a:p>
            <a:pPr>
              <a:spcAft>
                <a:spcPts val="1000"/>
              </a:spcAft>
              <a:defRPr sz="2100"/>
            </a:pPr>
            <a:r>
              <a:t>Copiers is the most profitable sub-category at approximately $55.62K.</a:t>
            </a:r>
          </a:p>
          <a:p>
            <a:pPr>
              <a:spcAft>
                <a:spcPts val="1000"/>
              </a:spcAft>
              <a:defRPr sz="2100"/>
            </a:pPr>
            <a:r>
              <a:t>High sales should be evaluated alongside profit to avoid prioritising low-margin growth.</a:t>
            </a:r>
          </a:p>
          <a:p>
            <a:pPr>
              <a:spcAft>
                <a:spcPts val="1000"/>
              </a:spcAft>
              <a:defRPr sz="2100"/>
            </a:pPr>
            <a:r>
              <a:t>Top-product analysis supports product-mix and merchandising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6. Sales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The monthly sales trend shows an overall upward pattern from 2014 to 2017.</a:t>
            </a:r>
          </a:p>
          <a:p>
            <a:pPr>
              <a:spcAft>
                <a:spcPts val="1000"/>
              </a:spcAft>
              <a:defRPr sz="2200"/>
            </a:pPr>
            <a:r>
              <a:t>The series also displays recurring seasonal variation.</a:t>
            </a:r>
          </a:p>
          <a:p>
            <a:pPr>
              <a:spcAft>
                <a:spcPts val="1000"/>
              </a:spcAft>
              <a:defRPr sz="2200"/>
            </a:pPr>
            <a:r>
              <a:t>Management can use these patterns for inventory, promotional and staffing planning.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7. Risks &amp;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RISKS</a:t>
            </a:r>
          </a:p>
          <a:p>
            <a:pPr>
              <a:spcAft>
                <a:spcPts val="1000"/>
              </a:spcAft>
              <a:defRPr sz="1700"/>
            </a:pPr>
            <a:r>
              <a:t>• Revenue may mask low-margin or loss-making products.</a:t>
            </a:r>
          </a:p>
          <a:p>
            <a:pPr>
              <a:spcAft>
                <a:spcPts val="1000"/>
              </a:spcAft>
              <a:defRPr sz="1700"/>
            </a:pPr>
            <a:r>
              <a:t>• Strong sales regions/categories may not always produce the strongest margins.</a:t>
            </a:r>
          </a:p>
          <a:p>
            <a:pPr>
              <a:spcAft>
                <a:spcPts val="1000"/>
              </a:spcAft>
              <a:defRPr sz="1700"/>
            </a:pPr>
            <a:r>
              <a:t>• Concentration in leading regions or segments can increase exposure to market changes.</a:t>
            </a:r>
          </a:p>
          <a:p>
            <a:pPr>
              <a:spcAft>
                <a:spcPts val="1000"/>
              </a:spcAft>
              <a:defRPr sz="1700"/>
            </a:pPr>
            <a:endParaRPr/>
          </a:p>
          <a:p>
            <a:pPr>
              <a:spcAft>
                <a:spcPts val="1000"/>
              </a:spcAft>
              <a:defRPr sz="1700"/>
            </a:pPr>
            <a:r>
              <a:t>OPPORTUNITIES</a:t>
            </a:r>
          </a:p>
          <a:p>
            <a:pPr>
              <a:spcAft>
                <a:spcPts val="1000"/>
              </a:spcAft>
              <a:defRPr sz="1700"/>
            </a:pPr>
            <a:r>
              <a:t>• Scale high-profit regions and product areas.</a:t>
            </a:r>
          </a:p>
          <a:p>
            <a:pPr>
              <a:spcAft>
                <a:spcPts val="1000"/>
              </a:spcAft>
              <a:defRPr sz="1700"/>
            </a:pPr>
            <a:r>
              <a:t>• Tailor customer-segment promotions and upselling.</a:t>
            </a:r>
          </a:p>
          <a:p>
            <a:pPr>
              <a:spcAft>
                <a:spcPts val="1000"/>
              </a:spcAft>
              <a:defRPr sz="1700"/>
            </a:pPr>
            <a:r>
              <a:t>• Use seasonality for operational planning.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8. Management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Protect and scale the West region while monitoring profitability.</a:t>
            </a:r>
          </a:p>
          <a:p>
            <a:pPr>
              <a:spcAft>
                <a:spcPts val="1000"/>
              </a:spcAft>
              <a:defRPr sz="2000"/>
            </a:pPr>
            <a:r>
              <a:t>2. Investigate high-sales/low-profit combinations through discount, pricing and product-mix analysis.</a:t>
            </a:r>
          </a:p>
          <a:p>
            <a:pPr>
              <a:spcAft>
                <a:spcPts val="1000"/>
              </a:spcAft>
              <a:defRPr sz="2000"/>
            </a:pPr>
            <a:r>
              <a:t>3. Prioritise high-margin sub-categories such as Copiers.</a:t>
            </a:r>
          </a:p>
          <a:p>
            <a:pPr>
              <a:spcAft>
                <a:spcPts val="1000"/>
              </a:spcAft>
              <a:defRPr sz="2000"/>
            </a:pPr>
            <a:r>
              <a:t>4. Review loss-making products before pursuing additional sales volume.</a:t>
            </a:r>
          </a:p>
          <a:p>
            <a:pPr>
              <a:spcAft>
                <a:spcPts val="1000"/>
              </a:spcAft>
              <a:defRPr sz="2000"/>
            </a:pPr>
            <a:r>
              <a:t>5. Use monthly seasonality to plan inventory, promotions and staffing.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9. Key Takeaway &amp;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dashboard turns transactional data into a decision-support tool.</a:t>
            </a:r>
          </a:p>
          <a:p>
            <a:pPr>
              <a:spcAft>
                <a:spcPts val="1000"/>
              </a:spcAft>
              <a:defRPr sz="2000"/>
            </a:pPr>
            <a:r>
              <a:t>The strongest lesson from Week 2 is that BI is not only about charts — it is about connecting metrics to business questions.</a:t>
            </a:r>
          </a:p>
          <a:p>
            <a:pPr>
              <a:spcAft>
                <a:spcPts val="1000"/>
              </a:spcAft>
              <a:defRPr sz="2000"/>
            </a:pPr>
            <a:r>
              <a:t>Skills developed: Power Query, data modelling, DAX measures, KPI design, interactive slicers, visualisation and business storytelling.</a:t>
            </a:r>
          </a:p>
          <a:p>
            <a:pPr>
              <a:spcAft>
                <a:spcPts val="1000"/>
              </a:spcAft>
              <a:defRPr sz="2000"/>
            </a:pPr>
            <a:r>
              <a:t>Next improvement: complete the required matrix/map and ensure Total Orders is included without overcrowding the executive page.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523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Joseph Igbokwe</dc:creator>
  <cp:keywords/>
  <dc:description>generated using python-pptx</dc:description>
  <cp:lastModifiedBy>Joseph Igbokwe</cp:lastModifiedBy>
  <cp:revision>2</cp:revision>
  <dcterms:created xsi:type="dcterms:W3CDTF">2013-01-27T09:14:16Z</dcterms:created>
  <dcterms:modified xsi:type="dcterms:W3CDTF">2026-08-16T19:34:20Z</dcterms:modified>
  <cp:category/>
</cp:coreProperties>
</file>